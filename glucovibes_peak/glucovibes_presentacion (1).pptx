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91440" cy="5143500"/>
          </a:xfrm>
          <a:prstGeom prst="rect">
            <a:avLst/>
          </a:prstGeom>
          <a:solidFill>
            <a:srgbClr val="0F7B6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0" y="-1371600"/>
            <a:ext cx="5029200" cy="50292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0" y="-914400"/>
            <a:ext cx="4114800" cy="4114800"/>
          </a:xfrm>
          <a:prstGeom prst="ellipse">
            <a:avLst/>
          </a:prstGeom>
          <a:solidFill>
            <a:srgbClr val="0F7B6C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45720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486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GLUCOVIBES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del Impacto Glucémico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2011680"/>
            <a:ext cx="3657600" cy="4572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240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predecimos el pico de glucosa </a:t>
            </a:r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que ocurra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2926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</a:rPr>
              <a:t>Glucovibes Challenge 2026  ·  Máster en Data Science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297680"/>
            <a:ext cx="2377440" cy="347472"/>
          </a:xfrm>
          <a:prstGeom prst="rect">
            <a:avLst/>
          </a:prstGeom>
          <a:solidFill>
            <a:srgbClr val="0F7B6C">
              <a:alpha val="15000"/>
            </a:srgbClr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2976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B6C"/>
                </a:solidFill>
              </a:rPr>
              <a:t>15.066 comidas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0" y="4297680"/>
            <a:ext cx="2377440" cy="347472"/>
          </a:xfrm>
          <a:prstGeom prst="rect">
            <a:avLst/>
          </a:prstGeom>
          <a:solidFill>
            <a:srgbClr val="E84855">
              <a:alpha val="15000"/>
            </a:srgbClr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0" y="42976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4855"/>
                </a:solidFill>
              </a:rPr>
              <a:t>92 usuarios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0" y="4297680"/>
            <a:ext cx="2377440" cy="347472"/>
          </a:xfrm>
          <a:prstGeom prst="rect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42976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721K lecturas CGM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·  EL PROBLEMA  —  ¿Por qué importa predecir el pico glucémico?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594360"/>
            <a:ext cx="3931920" cy="416052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777240"/>
            <a:ext cx="1737360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6060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pasa en tu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cuerpo cuando comes?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" y="34290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La glucosa en sangre sube y baja tras cada comida. El pico — cuánto sube y cuándo — determina el estrés metabólico, el riesgo cardiovascular y la energía del día.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80560" y="594360"/>
            <a:ext cx="43891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594360"/>
            <a:ext cx="64008" cy="1325880"/>
          </a:xfrm>
          <a:prstGeom prst="rect">
            <a:avLst/>
          </a:prstGeom>
          <a:solidFill>
            <a:srgbClr val="E8485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6858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68580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Riesgo cardiovascular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17720" y="1188720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Picos altos y frecuentes dañan los vasos sanguíneos y aumentan el riesgo de diabetes tipo 2.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480560" y="2039112"/>
            <a:ext cx="43891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80560" y="2039112"/>
            <a:ext cx="64008" cy="1325880"/>
          </a:xfrm>
          <a:prstGeom prst="rect">
            <a:avLst/>
          </a:prstGeom>
          <a:solidFill>
            <a:srgbClr val="0F7B6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130552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12080" y="21305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Rendimiento cognitivo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17720" y="2633472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La caída brusca de glucosa tras el pico (crash) provoca fatiga mental y pérdida de concentración.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480560" y="3483864"/>
            <a:ext cx="43891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480560" y="3483864"/>
            <a:ext cx="64008" cy="1325880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575304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12080" y="357530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Recuperación deportiva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617720" y="407822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El timing del pico respecto al ejercicio condiciona la oxidación de grasa y la síntesis muscular.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7B6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 ·  PUNTO DE PARTIDA  —  Los datos del reto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548640"/>
            <a:ext cx="1965960" cy="205740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548640"/>
            <a:ext cx="64008" cy="2057400"/>
          </a:xfrm>
          <a:prstGeom prst="rect">
            <a:avLst/>
          </a:prstGeom>
          <a:solidFill>
            <a:srgbClr val="0F7B6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6858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10972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B6C"/>
                </a:solidFill>
              </a:rPr>
              <a:t>15.066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384048" y="16916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5C"/>
                </a:solidFill>
              </a:rPr>
              <a:t>comidas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3A5C"/>
                </a:solidFill>
              </a:rPr>
              <a:t>registradas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41448" y="548640"/>
            <a:ext cx="1965960" cy="205740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41448" y="548640"/>
            <a:ext cx="64008" cy="2057400"/>
          </a:xfrm>
          <a:prstGeom prst="rect">
            <a:avLst/>
          </a:prstGeom>
          <a:solidFill>
            <a:srgbClr val="E8485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6858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51176" y="10972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4855"/>
                </a:solidFill>
              </a:rPr>
              <a:t>92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2551176" y="16916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5C"/>
                </a:solidFill>
              </a:rPr>
              <a:t>usuarios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3A5C"/>
                </a:solidFill>
              </a:rPr>
              <a:t>con CGM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08576" y="548640"/>
            <a:ext cx="1965960" cy="205740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08576" y="548640"/>
            <a:ext cx="64008" cy="2057400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6858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18304" y="10972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261"/>
                </a:solidFill>
              </a:rPr>
              <a:t>721K</a:t>
            </a:r>
            <a:endParaRPr lang="en-US" sz="3400" dirty="0"/>
          </a:p>
        </p:txBody>
      </p:sp>
      <p:sp>
        <p:nvSpPr>
          <p:cNvPr id="19" name="Text 14"/>
          <p:cNvSpPr/>
          <p:nvPr/>
        </p:nvSpPr>
        <p:spPr>
          <a:xfrm>
            <a:off x="4718304" y="16916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5C"/>
                </a:solidFill>
              </a:rPr>
              <a:t>lecturas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3A5C"/>
                </a:solidFill>
              </a:rPr>
              <a:t>de glucosa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775704" y="548640"/>
            <a:ext cx="1965960" cy="205740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75704" y="548640"/>
            <a:ext cx="64008" cy="205740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6858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85432" y="10972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</a:rPr>
              <a:t>6</a:t>
            </a:r>
            <a:endParaRPr lang="en-US" sz="3400" dirty="0"/>
          </a:p>
        </p:txBody>
      </p:sp>
      <p:sp>
        <p:nvSpPr>
          <p:cNvPr id="24" name="Text 18"/>
          <p:cNvSpPr/>
          <p:nvPr/>
        </p:nvSpPr>
        <p:spPr>
          <a:xfrm>
            <a:off x="6885432" y="16916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5C"/>
                </a:solidFill>
              </a:rPr>
              <a:t>fuentes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3A5C"/>
                </a:solidFill>
              </a:rPr>
              <a:t>de datos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32004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Fuentes de datos del pipeline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154680"/>
          <a:ext cx="8503920" cy="1783080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  <a:gridCol w="237744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Lecturas CGM continuas (~5 min)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721.311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meal + meal_item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Comidas y alimentos registrados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15.066 válidas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food_composition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Macros, fibra, IG, ultraprocesados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Sesiones de ejercicio con intensidad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questionnaire_morning/night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Sueño, FC, HRV, ansiedad, estrés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0"/>
          <p:cNvSpPr/>
          <p:nvPr/>
        </p:nvSpPr>
        <p:spPr>
          <a:xfrm>
            <a:off x="7132320" y="278892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2EC4B6">
              <a:alpha val="2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178040" y="2788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B6C"/>
                </a:solidFill>
              </a:rPr>
              <a:t>📅 2021 – 2023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·  METODOLOGÍA  —  Pipeline de modelado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</a:rPr>
              <a:t>Un pipeline de 5 fases construido sobre datos reales de CGM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554480" cy="256032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051560"/>
            <a:ext cx="548640" cy="54864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2286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Limpieza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 Datos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" y="2926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Fase 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56232" y="2194560"/>
            <a:ext cx="118872" cy="109728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3" name="Shape 10"/>
          <p:cNvSpPr/>
          <p:nvPr/>
        </p:nvSpPr>
        <p:spPr>
          <a:xfrm>
            <a:off x="1993392" y="960120"/>
            <a:ext cx="1554480" cy="2560320"/>
          </a:xfrm>
          <a:prstGeom prst="rect">
            <a:avLst/>
          </a:prstGeom>
          <a:solidFill>
            <a:srgbClr val="0F7B6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96312" y="1051560"/>
            <a:ext cx="548640" cy="54864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2496312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73736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39112" y="2286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039112" y="2926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Fase 3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575304" y="2194560"/>
            <a:ext cx="118872" cy="109728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20" name="Shape 16"/>
          <p:cNvSpPr/>
          <p:nvPr/>
        </p:nvSpPr>
        <p:spPr>
          <a:xfrm>
            <a:off x="3712464" y="960120"/>
            <a:ext cx="1554480" cy="2560320"/>
          </a:xfrm>
          <a:prstGeom prst="rect">
            <a:avLst/>
          </a:prstGeom>
          <a:solidFill>
            <a:srgbClr val="2EC4B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215384" y="1051560"/>
            <a:ext cx="548640" cy="54864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4215384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173736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58184" y="2286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Especializadas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3758184" y="2926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Fase 3b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294376" y="2194560"/>
            <a:ext cx="118872" cy="109728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27" name="Shape 22"/>
          <p:cNvSpPr/>
          <p:nvPr/>
        </p:nvSpPr>
        <p:spPr>
          <a:xfrm>
            <a:off x="5431536" y="960120"/>
            <a:ext cx="1554480" cy="256032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934456" y="1051560"/>
            <a:ext cx="548640" cy="54864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9" name="Text 24"/>
          <p:cNvSpPr/>
          <p:nvPr/>
        </p:nvSpPr>
        <p:spPr>
          <a:xfrm>
            <a:off x="5934456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1737360"/>
            <a:ext cx="457200" cy="4572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77256" y="2286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Benchmark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Inicial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477256" y="2926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Fase 5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7013448" y="2194560"/>
            <a:ext cx="118872" cy="109728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4" name="Shape 28"/>
          <p:cNvSpPr/>
          <p:nvPr/>
        </p:nvSpPr>
        <p:spPr>
          <a:xfrm>
            <a:off x="7150608" y="960120"/>
            <a:ext cx="1554480" cy="2560320"/>
          </a:xfrm>
          <a:prstGeom prst="rect">
            <a:avLst/>
          </a:prstGeom>
          <a:solidFill>
            <a:srgbClr val="E8485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653528" y="1051560"/>
            <a:ext cx="548640" cy="548640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36" name="Text 30"/>
          <p:cNvSpPr/>
          <p:nvPr/>
        </p:nvSpPr>
        <p:spPr>
          <a:xfrm>
            <a:off x="7653528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9248" y="1737360"/>
            <a:ext cx="457200" cy="4572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196328" y="2286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7196328" y="2926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Fase 5b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274320" y="3749040"/>
            <a:ext cx="2743200" cy="502920"/>
          </a:xfrm>
          <a:prstGeom prst="rect">
            <a:avLst/>
          </a:prstGeom>
          <a:solidFill>
            <a:srgbClr val="0F7B6C">
              <a:alpha val="12000"/>
            </a:srgbClr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365760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64 features construidas desde cero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3200400" y="3749040"/>
            <a:ext cx="2743200" cy="502920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291840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GroupKFold 5-fold (anti-leakage por usuario)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6126480" y="3749040"/>
            <a:ext cx="2743200" cy="502920"/>
          </a:xfrm>
          <a:prstGeom prst="rect">
            <a:avLst/>
          </a:prstGeom>
          <a:solidFill>
            <a:srgbClr val="E84855">
              <a:alpha val="12000"/>
            </a:srgbClr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6217920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Optuna: 80 trials de búsqueda bayesiana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7B6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·  FEATURE ENGINEERING  —  64 variables para predecir el pico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4855"/>
                </a:solidFill>
              </a:rPr>
              <a:t>La decisión más importante: features rolling SIN leakage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2743200" cy="64008"/>
          </a:xfrm>
          <a:prstGeom prst="rect">
            <a:avLst/>
          </a:prstGeom>
          <a:solidFill>
            <a:srgbClr val="0F7B6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078992"/>
            <a:ext cx="438912" cy="4389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14600" y="1051560"/>
            <a:ext cx="411480" cy="411480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10" name="Text 7"/>
          <p:cNvSpPr/>
          <p:nvPr/>
        </p:nvSpPr>
        <p:spPr>
          <a:xfrm>
            <a:off x="251460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17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41832" y="10789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Nutricionales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9768" y="157276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Macros · fibra · IG · ultraprocesados · grupos de alimentos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00400" y="91440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914400"/>
            <a:ext cx="2743200" cy="64008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078992"/>
            <a:ext cx="438912" cy="43891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394960" y="1051560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3"/>
          <p:cNvSpPr/>
          <p:nvPr/>
        </p:nvSpPr>
        <p:spPr>
          <a:xfrm>
            <a:off x="539496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822192" y="10789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CGM preprandial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10128" y="157276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Pendiente · variabilidad · delta de glucosa en –90 a 0 min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080760" y="91440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80760" y="914400"/>
            <a:ext cx="2743200" cy="64008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078992"/>
            <a:ext cx="438912" cy="43891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275320" y="1051560"/>
            <a:ext cx="411480" cy="4114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4" name="Text 19"/>
          <p:cNvSpPr/>
          <p:nvPr/>
        </p:nvSpPr>
        <p:spPr>
          <a:xfrm>
            <a:off x="827532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702552" y="10789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Actividad física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190488" y="157276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Ventanas 2h · 6h · 24h · 48h + intensidad ponderada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320040" y="260604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20040" y="2606040"/>
            <a:ext cx="2743200" cy="64008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770632"/>
            <a:ext cx="438912" cy="43891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2514600" y="2743200"/>
            <a:ext cx="411480" cy="4114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1" name="Text 25"/>
          <p:cNvSpPr/>
          <p:nvPr/>
        </p:nvSpPr>
        <p:spPr>
          <a:xfrm>
            <a:off x="251460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941832" y="27706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Sueño y bienestar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29768" y="326440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Sueño previo · FC · HRV · cansancio · ansiedad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3200400" y="260604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200400" y="2606040"/>
            <a:ext cx="2743200" cy="64008"/>
          </a:xfrm>
          <a:prstGeom prst="rect">
            <a:avLst/>
          </a:prstGeom>
          <a:solidFill>
            <a:srgbClr val="E84855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2770632"/>
            <a:ext cx="438912" cy="438912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5394960" y="2743200"/>
            <a:ext cx="411480" cy="411480"/>
          </a:xfrm>
          <a:prstGeom prst="ellipse">
            <a:avLst/>
          </a:prstGeom>
          <a:solidFill>
            <a:srgbClr val="E84855"/>
          </a:solidFill>
          <a:ln/>
        </p:spPr>
      </p:sp>
      <p:sp>
        <p:nvSpPr>
          <p:cNvPr id="38" name="Text 31"/>
          <p:cNvSpPr/>
          <p:nvPr/>
        </p:nvSpPr>
        <p:spPr>
          <a:xfrm>
            <a:off x="539496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3822192" y="27706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Perfil rolling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3310128" y="326440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Media y std de picos del usuario · últimos 14 días previos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6080760" y="260604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6080760" y="2606040"/>
            <a:ext cx="2743200" cy="64008"/>
          </a:xfrm>
          <a:prstGeom prst="rect">
            <a:avLst/>
          </a:prstGeom>
          <a:solidFill>
            <a:srgbClr val="0F7B6C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2770632"/>
            <a:ext cx="438912" cy="438912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8275320" y="2743200"/>
            <a:ext cx="411480" cy="411480"/>
          </a:xfrm>
          <a:prstGeom prst="ellipse">
            <a:avLst/>
          </a:prstGeom>
          <a:solidFill>
            <a:srgbClr val="0F7B6C"/>
          </a:solidFill>
          <a:ln/>
        </p:spPr>
      </p:sp>
      <p:sp>
        <p:nvSpPr>
          <p:cNvPr id="45" name="Text 37"/>
          <p:cNvSpPr/>
          <p:nvPr/>
        </p:nvSpPr>
        <p:spPr>
          <a:xfrm>
            <a:off x="827532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6" name="Text 38"/>
          <p:cNvSpPr/>
          <p:nvPr/>
        </p:nvSpPr>
        <p:spPr>
          <a:xfrm>
            <a:off x="6702552" y="27706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Contexto del día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6190488" y="326440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Carga acumulada · pico previo · horas desde última comida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 ·  RESULTADOS  —  Modelo A: Predicción del pico glucémico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Comparativa de modelos — peak_value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4937760" cy="1828800"/>
        </p:xfrm>
        <a:graphic>
          <a:graphicData uri="http://schemas.openxmlformats.org/drawingml/2006/table">
            <a:tbl>
              <a:tblPr/>
              <a:tblGrid>
                <a:gridCol w="292608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(Fase 4b)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(Fase 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Sample weights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🏆 + Calibración isotónica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48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577840" y="502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Distribución del error (calibrado)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577840" y="868680"/>
            <a:ext cx="3291840" cy="393192"/>
          </a:xfrm>
          <a:prstGeom prst="rect">
            <a:avLst/>
          </a:prstGeom>
          <a:solidFill>
            <a:srgbClr val="0F7B6C">
              <a:alpha val="12000"/>
            </a:srgbClr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23560" y="868680"/>
            <a:ext cx="777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B6C"/>
                </a:solidFill>
              </a:rPr>
              <a:t>25.1%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46520" y="868680"/>
            <a:ext cx="2331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error &lt; 5 mg/dL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1325880"/>
            <a:ext cx="3291840" cy="393192"/>
          </a:xfrm>
          <a:prstGeom prst="rect">
            <a:avLst/>
          </a:prstGeom>
          <a:solidFill>
            <a:srgbClr val="2EC4B6">
              <a:alpha val="12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23560" y="1325880"/>
            <a:ext cx="777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47.9%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46520" y="1325880"/>
            <a:ext cx="2331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error &lt; 10 mg/dL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1783080"/>
            <a:ext cx="3291840" cy="393192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23560" y="1783080"/>
            <a:ext cx="777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66.5%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46520" y="1783080"/>
            <a:ext cx="2331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error &lt; 15 mg/dL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77840" y="2240280"/>
            <a:ext cx="3291840" cy="393192"/>
          </a:xfrm>
          <a:prstGeom prst="rect">
            <a:avLst/>
          </a:prstGeom>
          <a:solidFill>
            <a:srgbClr val="E84855">
              <a:alpha val="12000"/>
            </a:srgbClr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23560" y="2240280"/>
            <a:ext cx="777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855"/>
                </a:solidFill>
              </a:rPr>
              <a:t>92.3%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46520" y="2240280"/>
            <a:ext cx="2331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error &lt; 30 mg/dL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20040" y="28346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Top predictores del modelo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20040" y="3246120"/>
            <a:ext cx="7132320" cy="274320"/>
          </a:xfrm>
          <a:prstGeom prst="rect">
            <a:avLst/>
          </a:prstGeom>
          <a:solidFill>
            <a:srgbClr val="CBD5E1">
              <a:alpha val="3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320040" y="3246120"/>
            <a:ext cx="7132320" cy="274320"/>
          </a:xfrm>
          <a:prstGeom prst="rect">
            <a:avLst/>
          </a:prstGeom>
          <a:solidFill>
            <a:srgbClr val="0F7B6C">
              <a:alpha val="75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⭐ prev_peak_today_max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949440" y="3246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3219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20040" y="3602736"/>
            <a:ext cx="7132320" cy="274320"/>
          </a:xfrm>
          <a:prstGeom prst="rect">
            <a:avLst/>
          </a:prstGeom>
          <a:solidFill>
            <a:srgbClr val="CBD5E1">
              <a:alpha val="3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320040" y="3602736"/>
            <a:ext cx="5306588" cy="274320"/>
          </a:xfrm>
          <a:prstGeom prst="rect">
            <a:avLst/>
          </a:prstGeom>
          <a:solidFill>
            <a:srgbClr val="1B3A5C">
              <a:alpha val="75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3602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   glucose_preprandial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123708" y="36027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2395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0040" y="3959352"/>
            <a:ext cx="7132320" cy="274320"/>
          </a:xfrm>
          <a:prstGeom prst="rect">
            <a:avLst/>
          </a:prstGeom>
          <a:solidFill>
            <a:srgbClr val="CBD5E1">
              <a:alpha val="3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20040" y="3959352"/>
            <a:ext cx="5047352" cy="274320"/>
          </a:xfrm>
          <a:prstGeom prst="rect">
            <a:avLst/>
          </a:prstGeom>
          <a:solidFill>
            <a:srgbClr val="0F7B6C">
              <a:alpha val="75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365760" y="3959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⭐ user_peak_std_roll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64472" y="39593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2278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20040" y="4315968"/>
            <a:ext cx="7132320" cy="274320"/>
          </a:xfrm>
          <a:prstGeom prst="rect">
            <a:avLst/>
          </a:prstGeom>
          <a:solidFill>
            <a:srgbClr val="CBD5E1">
              <a:alpha val="3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20040" y="4315968"/>
            <a:ext cx="4152211" cy="274320"/>
          </a:xfrm>
          <a:prstGeom prst="rect">
            <a:avLst/>
          </a:prstGeom>
          <a:solidFill>
            <a:srgbClr val="0F7B6C">
              <a:alpha val="75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36576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⭐ hours_since_last_meal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3969331" y="43159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1874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20040" y="4672584"/>
            <a:ext cx="7132320" cy="274320"/>
          </a:xfrm>
          <a:prstGeom prst="rect">
            <a:avLst/>
          </a:prstGeom>
          <a:solidFill>
            <a:srgbClr val="CBD5E1">
              <a:alpha val="30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320040" y="4672584"/>
            <a:ext cx="4123407" cy="274320"/>
          </a:xfrm>
          <a:prstGeom prst="rect">
            <a:avLst/>
          </a:prstGeom>
          <a:solidFill>
            <a:srgbClr val="0F7B6C">
              <a:alpha val="75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365760" y="46725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⭐ user_peak_mean_roll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3940527" y="46725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1861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320040" y="49194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⭐ = feature nueva (fase 3b)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 ·  RESULTADOS  —  Calibración isotónica: corrigiendo el sesgo sistemático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</a:rPr>
              <a:t>El modelo presenta regresión a la media: sobreestima picos bajos, subestima los altos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8869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Sesgo (predicho − real) por rango de pico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5486400" cy="182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" y="2788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2320381"/>
            <a:ext cx="347472" cy="605699"/>
          </a:xfrm>
          <a:prstGeom prst="rect">
            <a:avLst/>
          </a:prstGeom>
          <a:solidFill>
            <a:srgbClr val="1B3A5C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64349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C"/>
                </a:solidFill>
              </a:rPr>
              <a:t>+18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261872" y="2353300"/>
            <a:ext cx="347472" cy="572780"/>
          </a:xfrm>
          <a:prstGeom prst="rect">
            <a:avLst/>
          </a:prstGeom>
          <a:solidFill>
            <a:srgbClr val="E84855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61872" y="2097268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4855"/>
                </a:solidFill>
              </a:rPr>
              <a:t>+17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22960" y="464515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&lt;100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728216" y="2577145"/>
            <a:ext cx="347472" cy="348935"/>
          </a:xfrm>
          <a:prstGeom prst="rect">
            <a:avLst/>
          </a:prstGeom>
          <a:solidFill>
            <a:srgbClr val="1B3A5C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728216" y="2321113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C"/>
                </a:solidFill>
              </a:rPr>
              <a:t>+11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121408" y="2587020"/>
            <a:ext cx="347472" cy="339060"/>
          </a:xfrm>
          <a:prstGeom prst="rect">
            <a:avLst/>
          </a:prstGeom>
          <a:solidFill>
            <a:srgbClr val="E84855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121408" y="2330988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4855"/>
                </a:solidFill>
              </a:rPr>
              <a:t>+10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82496" y="464515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100–120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87752" y="2843784"/>
            <a:ext cx="347472" cy="82296"/>
          </a:xfrm>
          <a:prstGeom prst="rect">
            <a:avLst/>
          </a:prstGeom>
          <a:solidFill>
            <a:srgbClr val="1B3A5C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587752" y="258775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C"/>
                </a:solidFill>
              </a:rPr>
              <a:t>+3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980944" y="2850368"/>
            <a:ext cx="347472" cy="75712"/>
          </a:xfrm>
          <a:prstGeom prst="rect">
            <a:avLst/>
          </a:prstGeom>
          <a:solidFill>
            <a:srgbClr val="E84855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980944" y="2594336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4855"/>
                </a:solidFill>
              </a:rPr>
              <a:t>+2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542032" y="464515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120–140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47288" y="2926080"/>
            <a:ext cx="347472" cy="269931"/>
          </a:xfrm>
          <a:prstGeom prst="rect">
            <a:avLst/>
          </a:prstGeom>
          <a:solidFill>
            <a:srgbClr val="1B3A5C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447288" y="3214299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C"/>
                </a:solidFill>
              </a:rPr>
              <a:t>-8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840480" y="2926080"/>
            <a:ext cx="347472" cy="283098"/>
          </a:xfrm>
          <a:prstGeom prst="rect">
            <a:avLst/>
          </a:prstGeom>
          <a:solidFill>
            <a:srgbClr val="E84855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3227466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4855"/>
                </a:solidFill>
              </a:rPr>
              <a:t>-9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401568" y="464515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140–160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306824" y="2926080"/>
            <a:ext cx="347472" cy="681411"/>
          </a:xfrm>
          <a:prstGeom prst="rect">
            <a:avLst/>
          </a:prstGeom>
          <a:solidFill>
            <a:srgbClr val="1B3A5C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306824" y="3625779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C"/>
                </a:solidFill>
              </a:rPr>
              <a:t>-21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00016" y="2926080"/>
            <a:ext cx="347472" cy="697870"/>
          </a:xfrm>
          <a:prstGeom prst="rect">
            <a:avLst/>
          </a:prstGeom>
          <a:solidFill>
            <a:srgbClr val="E84855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00016" y="3642238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4855"/>
                </a:solidFill>
              </a:rPr>
              <a:t>-21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261104" y="464515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160–200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166360" y="2926080"/>
            <a:ext cx="347472" cy="1464869"/>
          </a:xfrm>
          <a:prstGeom prst="rect">
            <a:avLst/>
          </a:prstGeom>
          <a:solidFill>
            <a:srgbClr val="1B3A5C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4409237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C"/>
                </a:solidFill>
              </a:rPr>
              <a:t>-45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559552" y="2926080"/>
            <a:ext cx="347472" cy="1336487"/>
          </a:xfrm>
          <a:prstGeom prst="rect">
            <a:avLst/>
          </a:prstGeom>
          <a:solidFill>
            <a:srgbClr val="E84855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559552" y="4280855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4855"/>
                </a:solidFill>
              </a:rPr>
              <a:t>-41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120640" y="464515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&gt;200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0" y="886968"/>
            <a:ext cx="228600" cy="182880"/>
          </a:xfrm>
          <a:prstGeom prst="rect">
            <a:avLst/>
          </a:prstGeom>
          <a:solidFill>
            <a:srgbClr val="1B3A5C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931920" y="8869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</a:rPr>
              <a:t>Sin calibrar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120640" y="886968"/>
            <a:ext cx="228600" cy="182880"/>
          </a:xfrm>
          <a:prstGeom prst="rect">
            <a:avLst/>
          </a:prstGeom>
          <a:solidFill>
            <a:srgbClr val="E84855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394960" y="8869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4855"/>
                </a:solidFill>
              </a:rPr>
              <a:t>Calibrado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72200" y="1234440"/>
            <a:ext cx="2743200" cy="365760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371600"/>
            <a:ext cx="640080" cy="64008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6263640" y="208483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Calibración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Isotónica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263640" y="27432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Entrenamos un regresor isotónico sobre las predicciones OOF para aprender una función monótona de corrección.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No requiere reentrenar el modelo principal. Funciona en post-procesado para cualquier nueva predicción.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6263640" y="4617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B6"/>
                </a:solidFill>
              </a:rPr>
              <a:t>Δ MAE = −0.15 mg/dL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 ·  RESULTADOS  —  Modelo B: Tiempo hasta el pico (reformulación binaria)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530352"/>
            <a:ext cx="4023360" cy="1325880"/>
          </a:xfrm>
          <a:prstGeom prst="rect">
            <a:avLst/>
          </a:prstGeom>
          <a:solidFill>
            <a:srgbClr val="E84855">
              <a:alpha val="12000"/>
            </a:srgbClr>
          </a:solidFill>
          <a:ln w="12700">
            <a:solidFill>
              <a:srgbClr val="E8485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179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60350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855"/>
                </a:solidFill>
              </a:rPr>
              <a:t>Problema inicial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9601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Regresión directa: R² = 0.06 (inútil)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3 clases: F1-macro = 0.41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La clase 'moderado' (45-75 min) contamina el aprendizaje (recall=0.16)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" y="1965960"/>
            <a:ext cx="4023360" cy="1325880"/>
          </a:xfrm>
          <a:prstGeom prst="rect">
            <a:avLst/>
          </a:prstGeom>
          <a:solidFill>
            <a:srgbClr val="0F7B6C">
              <a:alpha val="12000"/>
            </a:srgbClr>
          </a:solidFill>
          <a:ln w="12700">
            <a:solidFill>
              <a:srgbClr val="0F7B6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0391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B6C"/>
                </a:solidFill>
              </a:rPr>
              <a:t>Solución: clasificación binaria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2395728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Descartamos la clase 'moderado' del entrenamiento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Rápido (&lt;45 min): 5.579 comidas  |  Tardío (&gt;75 min): 5.915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Moderado → reportado como 'incierto' en producción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20040" y="3429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Matriz de confusión (OOF)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94760"/>
          <a:ext cx="4023360" cy="1051560"/>
        </p:xfrm>
        <a:graphic>
          <a:graphicData uri="http://schemas.openxmlformats.org/drawingml/2006/table">
            <a:tbl>
              <a:tblPr/>
              <a:tblGrid>
                <a:gridCol w="1234440"/>
                <a:gridCol w="1389888"/>
                <a:gridCol w="1389888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Rápido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Tardío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Rápido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B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3.150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Tardío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899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7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3.720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4617720" y="5303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Evolución F1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63440" y="2834640"/>
            <a:ext cx="1234440" cy="0"/>
          </a:xfrm>
          <a:prstGeom prst="rect">
            <a:avLst/>
          </a:prstGeom>
          <a:solidFill>
            <a:srgbClr val="CBD5E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4663440" y="254203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</a:rPr>
              <a:t>N/A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617720" y="288036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Regresión directa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(Fase 4b)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126480" y="1553355"/>
            <a:ext cx="1234440" cy="1281285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126480" y="1260747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0.414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080760" y="288036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3 clases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(Fase 5)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589520" y="928186"/>
            <a:ext cx="1234440" cy="1906454"/>
          </a:xfrm>
          <a:prstGeom prst="rect">
            <a:avLst/>
          </a:prstGeom>
          <a:solidFill>
            <a:srgbClr val="0F7B6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589520" y="63557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B6C"/>
                </a:solidFill>
              </a:rPr>
              <a:t>0.616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7543800" y="288036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Binario LightGBM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(Fase 5b)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617720" y="2834640"/>
            <a:ext cx="4206240" cy="182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Shape 21"/>
          <p:cNvSpPr/>
          <p:nvPr/>
        </p:nvSpPr>
        <p:spPr>
          <a:xfrm>
            <a:off x="4617720" y="3611880"/>
            <a:ext cx="2011680" cy="548640"/>
          </a:xfrm>
          <a:prstGeom prst="rect">
            <a:avLst/>
          </a:prstGeom>
          <a:solidFill>
            <a:srgbClr val="0F7B6C">
              <a:alpha val="12000"/>
            </a:srgbClr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617720" y="361188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B6C"/>
                </a:solidFill>
              </a:rPr>
              <a:t>59.8%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5422392" y="361188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Accuracy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766560" y="3611880"/>
            <a:ext cx="2011680" cy="548640"/>
          </a:xfrm>
          <a:prstGeom prst="rect">
            <a:avLst/>
          </a:prstGeom>
          <a:solidFill>
            <a:srgbClr val="E84855">
              <a:alpha val="12000"/>
            </a:srgbClr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766560" y="361188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4855"/>
                </a:solidFill>
              </a:rPr>
              <a:t>0.616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7571232" y="361188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F1-score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617720" y="4270248"/>
            <a:ext cx="2011680" cy="548640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617720" y="4270248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60.5%</a:t>
            </a: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5422392" y="4270248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Precision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766560" y="4270248"/>
            <a:ext cx="2011680" cy="548640"/>
          </a:xfrm>
          <a:prstGeom prst="rect">
            <a:avLst/>
          </a:prstGeom>
          <a:solidFill>
            <a:srgbClr val="1B3A5C">
              <a:alpha val="12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766560" y="4270248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</a:rPr>
              <a:t>62.9%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7571232" y="4270248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Recall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4617720" y="48463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855"/>
                </a:solidFill>
              </a:rPr>
              <a:t>⚡ Mejora del +49% sobre clasificación de 3 clases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  ·  RESUMEN  —  Mejoras acumuladas del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baseline a producción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14800" cy="3703320"/>
          </a:xfrm>
          <a:prstGeom prst="rect">
            <a:avLst/>
          </a:prstGeom>
          <a:solidFill>
            <a:srgbClr val="1B3A5C"/>
          </a:solidFill>
          <a:ln w="25400">
            <a:solidFill>
              <a:srgbClr val="0F7B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1887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6C"/>
                </a:solidFill>
              </a:rPr>
              <a:t>peak_value (MAE mg/dL)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Antes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1031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899AA"/>
                </a:solidFill>
              </a:rPr>
              <a:t>13.79</a:t>
            </a:r>
            <a:endParaRPr lang="en-US" sz="3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22402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8920" y="1828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B6C"/>
                </a:solidFill>
              </a:rPr>
              <a:t>Ahora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788920" y="210312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7B6C"/>
                </a:solidFill>
              </a:rPr>
              <a:t>13.32</a:t>
            </a:r>
            <a:endParaRPr lang="en-US" sz="3200" dirty="0"/>
          </a:p>
        </p:txBody>
      </p:sp>
      <p:sp>
        <p:nvSpPr>
          <p:cNvPr id="14" name="Shape 10"/>
          <p:cNvSpPr/>
          <p:nvPr/>
        </p:nvSpPr>
        <p:spPr>
          <a:xfrm>
            <a:off x="640080" y="2880360"/>
            <a:ext cx="3749040" cy="411480"/>
          </a:xfrm>
          <a:prstGeom prst="rect">
            <a:avLst/>
          </a:prstGeom>
          <a:solidFill>
            <a:srgbClr val="0F7B6C">
              <a:alpha val="2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28803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B6C"/>
                </a:solidFill>
              </a:rPr>
              <a:t>−0.47 mg/dL  (−3.4%)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008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BD5E1"/>
                </a:solidFill>
              </a:rPr>
              <a:t>R²: 0.482 → 0.543  (+12.7%)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40080" y="37490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LightGBM + Optuna + Sample Weights + Calibración Isotónica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892040" y="1097280"/>
            <a:ext cx="4114800" cy="3703320"/>
          </a:xfrm>
          <a:prstGeom prst="rect">
            <a:avLst/>
          </a:prstGeom>
          <a:solidFill>
            <a:srgbClr val="1B3A5C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18872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23560" y="11887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time_to_peak (F1-score)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7492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Antes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074920" y="21031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899AA"/>
                </a:solidFill>
              </a:rPr>
              <a:t>0.414</a:t>
            </a:r>
            <a:endParaRPr lang="en-US" sz="3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2402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23760" y="1828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A261"/>
                </a:solidFill>
              </a:rPr>
              <a:t>Ahora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7223760" y="210312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261"/>
                </a:solidFill>
              </a:rPr>
              <a:t>0.616</a:t>
            </a:r>
            <a:endParaRPr lang="en-US" sz="3200" dirty="0"/>
          </a:p>
        </p:txBody>
      </p:sp>
      <p:sp>
        <p:nvSpPr>
          <p:cNvPr id="26" name="Shape 20"/>
          <p:cNvSpPr/>
          <p:nvPr/>
        </p:nvSpPr>
        <p:spPr>
          <a:xfrm>
            <a:off x="5074920" y="2880360"/>
            <a:ext cx="3749040" cy="411480"/>
          </a:xfrm>
          <a:prstGeom prst="rect">
            <a:avLst/>
          </a:prstGeom>
          <a:solidFill>
            <a:srgbClr val="F4A261">
              <a:alpha val="2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074920" y="28803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+0.202  (+49%)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07492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BD5E1"/>
                </a:solidFill>
              </a:rPr>
              <a:t>Clasificación binaria vs 3 clases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074920" y="37490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Reformulación binaria + descarte de clase 'moderado'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  ·  DIFERENCIADORES Y TRABAJO FUTURO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B6C"/>
                </a:solidFill>
              </a:rPr>
              <a:t>5 líneas de mejora con potencial real de impacto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64008" cy="1600200"/>
          </a:xfrm>
          <a:prstGeom prst="rect">
            <a:avLst/>
          </a:prstGeom>
          <a:solidFill>
            <a:srgbClr val="E8485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6984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069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855"/>
                </a:solidFill>
              </a:rPr>
              <a:t>🔴 Alta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14630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Modelos personalizados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185623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Two-level: modelo global + ajuste individual por usuario.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Usuarios 401 y 919 con MAE=35mg/dL → target &lt;15mg/dL.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18688" y="9601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18688" y="960120"/>
            <a:ext cx="64008" cy="1600200"/>
          </a:xfrm>
          <a:prstGeom prst="rect">
            <a:avLst/>
          </a:prstGeom>
          <a:solidFill>
            <a:srgbClr val="0F7B6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06984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13048" y="1069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B6C"/>
                </a:solidFill>
              </a:rPr>
              <a:t>🔴 Alta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355848" y="14630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Composición de carbohidratos para TTP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55848" y="185623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Extraer ratio carbohidratos simples/complejos de food_composition.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Primer predictor directo del tiempo al pico que actualmente falta.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17336" y="96012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17336" y="960120"/>
            <a:ext cx="64008" cy="1600200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06984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11696" y="1069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</a:rPr>
              <a:t>🟠 Media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254496" y="14630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LSTM sobre señal CGM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254496" y="185623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Usar los últimos 18 puntos CGM (~90 min) como secuencia de entrada.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Capturar patrones temporales que los escalares no pueden representar.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1554480" y="274320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1554480" y="2743200"/>
            <a:ext cx="64008" cy="160020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2852928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148840" y="28529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</a:rPr>
              <a:t>🟠 Media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691640" y="32461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Datos de microbioma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691640" y="363931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El microbioma explica ~15-20% de la varianza glucémica postprandial.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Test de onboarding + meta-aprendizaje para ajuste de predicciones.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4453128" y="274320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453128" y="2743200"/>
            <a:ext cx="64008" cy="1600200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2852928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047488" y="28529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4B6"/>
                </a:solidFill>
              </a:rPr>
              <a:t>🟡 Baja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4590288" y="32461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iAUC con nuevas features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590288" y="363931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Reentrenar modelo de iAUC con las 64 features del pipeline actual.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Estimado: reducción MAE de 1.095 → ~950.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F7B6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  ·  DEMOSTRACIÓN  —  Los modelos en acción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API de predicción — flujo en producción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5212080" cy="292608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60120"/>
            <a:ext cx="493776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Cargar modelos (una vez al iniciar)
</a:t>
            </a:r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model_peak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joblib.load('model_peak_value.pkl')
</a:t>
            </a:r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calibrator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joblib.load('calibrator_peak_value.pkl')
</a:t>
            </a:r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model_ttp 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joblib.load('model_ttp_binary.pkl')
</a:t>
            </a:r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 cada nueva comida
</a:t>
            </a:r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peak_raw      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model_peak.predict(X_new[feat_peak])
</a:t>
            </a:r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peak_calibrated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calibrator.predict(peak_raw)   </a:t>
            </a:r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usar este
</a:t>
            </a:r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ttp_proba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model_ttp.predict_proba(X_ttp)[:, 1]
</a:t>
            </a:r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ttp_label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'tardío' if ttp_proba &gt; 0.40 else 'rápido'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0" y="502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Salida para el usuario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896112"/>
            <a:ext cx="32004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0" y="896112"/>
            <a:ext cx="64008" cy="841248"/>
          </a:xfrm>
          <a:prstGeom prst="rect">
            <a:avLst/>
          </a:prstGeom>
          <a:solidFill>
            <a:srgbClr val="E84855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060704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63640" y="9692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</a:rPr>
              <a:t>Pico esperado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63640" y="124358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855"/>
                </a:solidFill>
              </a:rPr>
              <a:t>147 mg/dL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779008" y="15179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Calibrado con IsotonicRegression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669280" y="1865376"/>
            <a:ext cx="32004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1865376"/>
            <a:ext cx="64008" cy="841248"/>
          </a:xfrm>
          <a:prstGeom prst="rect">
            <a:avLst/>
          </a:prstGeom>
          <a:solidFill>
            <a:srgbClr val="0F7B6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2029968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263640" y="19385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</a:rPr>
              <a:t>Tiempo al pico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263640" y="22128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B6C"/>
                </a:solidFill>
              </a:rPr>
              <a:t>Tardío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779008" y="2487168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&gt; 75 min · confianza: 72%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669280" y="2834640"/>
            <a:ext cx="32004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669280" y="2834640"/>
            <a:ext cx="64008" cy="841248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2999232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63640" y="29077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</a:rPr>
              <a:t>Recomendación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263640" y="31821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Añade fibra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779008" y="3456432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Reduce carga glucémica efectiva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320040" y="3913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Artefactos generados por el pipeline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320040" y="4251960"/>
            <a:ext cx="2743200" cy="274320"/>
          </a:xfrm>
          <a:prstGeom prst="rect">
            <a:avLst/>
          </a:prstGeom>
          <a:solidFill>
            <a:srgbClr val="1B3A5C">
              <a:alpha val="10000"/>
            </a:srgbClr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93192" y="4251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</a:rPr>
              <a:t>📦 model_peak_value.pkl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3246120" y="4251960"/>
            <a:ext cx="2743200" cy="274320"/>
          </a:xfrm>
          <a:prstGeom prst="rect">
            <a:avLst/>
          </a:prstGeom>
          <a:solidFill>
            <a:srgbClr val="1B3A5C">
              <a:alpha val="10000"/>
            </a:srgbClr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319272" y="4251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</a:rPr>
              <a:t>📦 calibrator_peak_value.pkl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172200" y="4251960"/>
            <a:ext cx="2743200" cy="274320"/>
          </a:xfrm>
          <a:prstGeom prst="rect">
            <a:avLst/>
          </a:prstGeom>
          <a:solidFill>
            <a:srgbClr val="1B3A5C">
              <a:alpha val="10000"/>
            </a:srgbClr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245352" y="4251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</a:rPr>
              <a:t>📦 feature_set_peak_value.pkl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320040" y="4599432"/>
            <a:ext cx="2743200" cy="274320"/>
          </a:xfrm>
          <a:prstGeom prst="rect">
            <a:avLst/>
          </a:prstGeom>
          <a:solidFill>
            <a:srgbClr val="1B3A5C">
              <a:alpha val="10000"/>
            </a:srgbClr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93192" y="45994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</a:rPr>
              <a:t>📦 model_ttp_binary.pkl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3246120" y="4599432"/>
            <a:ext cx="2743200" cy="274320"/>
          </a:xfrm>
          <a:prstGeom prst="rect">
            <a:avLst/>
          </a:prstGeom>
          <a:solidFill>
            <a:srgbClr val="1B3A5C">
              <a:alpha val="10000"/>
            </a:srgbClr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319272" y="45994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3A5C"/>
                </a:solidFill>
              </a:rPr>
              <a:t>📦 feature_set_ttp.pkl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0F7B6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E84855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F7B6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  ·  CONCLUSIONES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64008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920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conseguimos</a:t>
            </a:r>
            <a:endParaRPr lang="en-US" sz="2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57860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54203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peak_value: MAE reducido de 13.79 → 13.32 mg/dL  (R² = 0.54)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1508760" y="2926080"/>
            <a:ext cx="6400800" cy="9144"/>
          </a:xfrm>
          <a:prstGeom prst="rect">
            <a:avLst/>
          </a:prstGeom>
          <a:solidFill>
            <a:srgbClr val="0F7B6C">
              <a:alpha val="40000"/>
            </a:srgbClr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081528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304495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time_to_peak: F1 de 0.41 (3 clases) → 0.62 (binario)  +49%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1508760" y="3429000"/>
            <a:ext cx="6400800" cy="9144"/>
          </a:xfrm>
          <a:prstGeom prst="rect">
            <a:avLst/>
          </a:prstGeom>
          <a:solidFill>
            <a:srgbClr val="2EC4B6">
              <a:alpha val="40000"/>
            </a:srgbClr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584448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8760" y="354787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64 features sin leakage, calibración isotónica y Optuna en producción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1508760" y="3931920"/>
            <a:ext cx="6400800" cy="9144"/>
          </a:xfrm>
          <a:prstGeom prst="rect">
            <a:avLst/>
          </a:prstGeom>
          <a:solidFill>
            <a:srgbClr val="F4A261">
              <a:alpha val="40000"/>
            </a:srgbClr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087368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508760" y="405079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5 líneas de trabajo futuro definidas con impacto cuantificado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1508760" y="4434840"/>
            <a:ext cx="6400800" cy="9144"/>
          </a:xfrm>
          <a:prstGeom prst="rect">
            <a:avLst/>
          </a:prstGeom>
          <a:solidFill>
            <a:srgbClr val="E84855">
              <a:alpha val="40000"/>
            </a:srgbClr>
          </a:solidFill>
          <a:ln/>
        </p:spPr>
      </p:sp>
      <p:sp>
        <p:nvSpPr>
          <p:cNvPr id="20" name="Text 13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</a:rPr>
              <a:t>Glucovibes Challenge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Glucovibes — Predicción del Impacto Glucémico</dc:title>
  <dc:subject>PptxGenJS Presentation</dc:subject>
  <dc:creator>PptxGenJS</dc:creator>
  <cp:lastModifiedBy>PptxGenJS</cp:lastModifiedBy>
  <cp:revision>1</cp:revision>
  <dcterms:created xsi:type="dcterms:W3CDTF">2026-03-11T19:08:52Z</dcterms:created>
  <dcterms:modified xsi:type="dcterms:W3CDTF">2026-03-11T19:08:52Z</dcterms:modified>
</cp:coreProperties>
</file>